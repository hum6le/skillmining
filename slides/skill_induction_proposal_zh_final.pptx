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540"/>
          </a:solidFill>
          <a:ln>
            <a:solidFill>
              <a:srgbClr val="14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68112"/>
            <a:ext cx="12191695" cy="1389888"/>
          </a:xfrm>
          <a:prstGeom prst="rect">
            <a:avLst/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7432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A8D3F8"/>
                </a:solidFill>
                <a:latin typeface="Microsoft YaHei"/>
              </a:rPr>
              <a:t>研究方案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9601200" cy="11430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从轨迹中学习
可复用、可分支的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0672"/>
            <a:ext cx="8046720" cy="32918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000" b="0">
                <a:solidFill>
                  <a:srgbClr val="DAE8F8"/>
                </a:solidFill>
                <a:latin typeface="Microsoft YaHei"/>
              </a:rPr>
              <a:t>两个方向：Macro Skill  ·  State-conditioned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33872"/>
            <a:ext cx="45720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作者姓名 · 单位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852160"/>
            <a:ext cx="219456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200" b="0">
                <a:solidFill>
                  <a:srgbClr val="DAE8F8"/>
                </a:solidFill>
                <a:latin typeface="Microsoft YaHei"/>
              </a:rPr>
              <a:t>Research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研究动机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现有方法能生成 Skill，但还没有解决两个结构性问题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536192"/>
            <a:ext cx="1060704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42540"/>
                </a:solidFill>
                <a:latin typeface="Microsoft YaHei"/>
              </a:rPr>
              <a:t>AWM 与 Trace2Skill 的输出分别暴露出两种问题：一个偏向记忆具体轨迹，一个缺少状态条件。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5074920" cy="251460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73152" cy="251460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方向一：泛化性不足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4663440" cy="18013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A3545"/>
                </a:solidFill>
                <a:latin typeface="Microsoft YaHei"/>
              </a:rPr>
              <a:t>Skill 记住了具体姓名、账号、slot 值或动作序列。
问题：它描述的是一条轨迹，而不是可替换参数的程序。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40280"/>
            <a:ext cx="5074920" cy="251460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240280"/>
            <a:ext cx="73152" cy="251460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40487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方向二：分支条件缺失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07208"/>
            <a:ext cx="4663440" cy="18013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800" b="0">
                <a:solidFill>
                  <a:srgbClr val="2A3545"/>
                </a:solidFill>
                <a:latin typeface="Microsoft YaHei"/>
              </a:rPr>
              <a:t>不同状态下都出现了局部规则。
问题：规则被平铺后，看起来互相冲突，实际缺少状态条件。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18B81"/>
                </a:solidFill>
                <a:latin typeface="Microsoft YaHei"/>
              </a:rPr>
              <a:t>共同缺口：轨迹经验没有被组织成可复用、带条件的程序性知识。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1371600"/>
            <a:ext cx="114300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1572768"/>
            <a:ext cx="7498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42540"/>
                </a:solidFill>
                <a:latin typeface="Microsoft YaHei"/>
              </a:rPr>
              <a:t>AWM 原文证据：同一任务中的验证条件并未被统一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057400"/>
            <a:ext cx="5230368" cy="32461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2057400"/>
            <a:ext cx="73152" cy="324612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2221992"/>
            <a:ext cx="4818888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原文片段 A · Standard Recovery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2624328"/>
            <a:ext cx="4818888" cy="25328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“Ensure at least two distinct identifiers are provided”
→ 标准流程要求两个身份标识。
来源：skill-awm.md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057400"/>
            <a:ext cx="5230368" cy="32461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2057400"/>
            <a:ext cx="73152" cy="32461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221992"/>
            <a:ext cx="4818888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原文片段 B · Identity Verification Priorities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624328"/>
            <a:ext cx="4818888" cy="25328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“Secondary: Request one of the following”
→ 决策规则又描述为请求一个辅助标识。
来源：skill-awm.md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5596128"/>
            <a:ext cx="6263640" cy="310896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08376" y="5632704"/>
            <a:ext cx="619048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B3F45"/>
                </a:solidFill>
                <a:latin typeface="Microsoft YaHei"/>
              </a:rPr>
              <a:t>问题不是简单选一条规则，而是缺少区分状态的 guard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方向一 · MACRO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真实 Skill 原文已经暴露了实例记忆问题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536192"/>
            <a:ext cx="658368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DC792B"/>
                </a:solidFill>
                <a:latin typeface="Microsoft YaHei"/>
              </a:rPr>
              <a:t>原文来源：Skill Mining/skill-hg.md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6400800" cy="342900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5989320" cy="2926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A3545"/>
                </a:solidFill>
                <a:latin typeface="Consolas"/>
              </a:rPr>
              <a:t>2. **Verification Method Selection (`verify-identity`)**
   - **Condition**: After pulling up the account, the agent needs to verify identity.
   - **Decision**: The agent should ask for **two** of the available secondary credentials (Zip, Email, Phone).
   - **Branching Logic**:
     - If the customer provides an **Email** and **Zip**, verify against those.
     - If the customer provides a **Phone** and **Account ID**, verify against those.
     - **High Weight Paths**: The most common verification patterns involve combinations of Zip Code and Phone Number, or Email and Zip Code.
     - **Edge Case**: If the system shows `n/a` for a field (e.g., `sanya afzal,n/a,n/a`), the agent must ask for alternative crede
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74519"/>
            <a:ext cx="3840480" cy="3429000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52360" y="1874519"/>
            <a:ext cx="73152" cy="3429000"/>
          </a:xfrm>
          <a:prstGeom prst="roundRect">
            <a:avLst>
              <a:gd name="adj" fmla="val 8000"/>
            </a:avLst>
          </a:prstGeom>
          <a:solidFill>
            <a:srgbClr val="BB3F45"/>
          </a:solidFill>
          <a:ln>
            <a:solidFill>
              <a:srgbClr val="BB3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039112"/>
            <a:ext cx="342900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问题在哪里？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441448"/>
            <a:ext cx="3429000" cy="27157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动作序列直接绑定了：
• aphoenix1
• cm374950
• alessandro phoenix
• 57820
• (499) 412-7409
这些是训练实例，不是可替换变量。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5650992"/>
            <a:ext cx="4114800" cy="310896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45336" y="5687568"/>
            <a:ext cx="404164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B3F45"/>
                </a:solidFill>
                <a:latin typeface="Microsoft YaHei"/>
              </a:rPr>
              <a:t>原文证据：instance-specific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5669280"/>
            <a:ext cx="5394960" cy="34747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18B81"/>
                </a:solidFill>
                <a:latin typeface="Microsoft YaHei"/>
              </a:rPr>
              <a:t>应当学习 enter-details(PERSON / ACCOUNT / CREDENTIAL)，而不是记住某几条具体轨迹。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方向一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从 Trace Skill 到 Macro Skill：学习可组合的程序模板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1. 抽取结构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从轨迹中识别：
状态、动作、slot、结果
保留原始值用于追溯，
使用类型用于泛化。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2. 变量化规则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将具体实例归一化为：
PERSON_NAME
PHONE
ACCOUNT_ID
形成参数化动作模板。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79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3. 跨轨迹验证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在新实体、新措辞、
新 slot 组合上回放。
只有可迁移的结构
才能提升为 Macro Skill。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42540"/>
                </a:solidFill>
                <a:latin typeface="Microsoft YaHei"/>
              </a:rPr>
              <a:t>具体轨迹  →  参数化子程序  →  可迁移 Macro Skill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方向一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从 Trace Skill 到 Macro Skill：学习可组合的程序模板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1. 抽取结构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从轨迹中识别：
状态、动作、slot、结果
保留原始值用于追溯，
使用类型用于泛化。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2. 变量化规则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将具体实例归一化为：
PERSON_NAME
PHONE
ACCOUNT_ID
形成参数化动作模板。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45920"/>
            <a:ext cx="3337560" cy="34747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79" y="164592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10512"/>
            <a:ext cx="292607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3. 跨轨迹验证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12848"/>
            <a:ext cx="2926079" cy="27614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在新实体、新措辞、
新 slot 组合上回放。
只有可迁移的结构
才能提升为 Macro Skill。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15000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42540"/>
                </a:solidFill>
                <a:latin typeface="Microsoft YaHei"/>
              </a:rPr>
              <a:t>具体轨迹  →  参数化子程序  →  可迁移 Macro Skill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方向二 · STATE-CONDITIONED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真实 Skill 有状态描述，但关键 guard 仍不够可执行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481328"/>
            <a:ext cx="978408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768B4"/>
                </a:solidFill>
                <a:latin typeface="Microsoft YaHei"/>
              </a:rPr>
              <a:t>原文来源：Skill Mining/skill-Trace2Skill.md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537960" cy="361188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39112"/>
            <a:ext cx="6108192" cy="32004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A3545"/>
                </a:solidFill>
                <a:latin typeface="Consolas"/>
              </a:rPr>
              <a:t>## Action selection
**CRITICAL: Action-First Workflow**
1. **Identify Action**: Determine the exact backend action label required by the current subflow state. Do not guess based on the tone of the response.
2. **Extract Slots**: Extract slot values strictly from the conversation context. Preserve the exact order required by the action schema.
3. **Verify**: Ensure the action and slots are consistent with the subflow state before proceeding.
4. **Generate Response**: Only after steps 1-3 are complete, draft the natural-language response.
- If identity verification or account lookup is required, complete that before downstream actions.
- If no backend action is needed for the turn, use `none`.
- **DO NOT** inf
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28800"/>
            <a:ext cx="3840480" cy="3611880"/>
          </a:xfrm>
          <a:prstGeom prst="roundRect">
            <a:avLst>
              <a:gd name="adj" fmla="val 8000"/>
            </a:avLst>
          </a:prstGeom>
          <a:solidFill>
            <a:srgbClr val="FCEAEB"/>
          </a:solidFill>
          <a:ln>
            <a:solidFill>
              <a:srgbClr val="FCE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2103120"/>
            <a:ext cx="237744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500" b="1">
                <a:solidFill>
                  <a:srgbClr val="BB3F45"/>
                </a:solidFill>
                <a:latin typeface="Microsoft YaHei"/>
              </a:rPr>
              <a:t>问题在哪里？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542032"/>
            <a:ext cx="3246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545"/>
                </a:solidFill>
                <a:latin typeface="Microsoft YaHei"/>
              </a:defRPr>
            </a:pPr>
            <a:r>
              <a:t>• “请求两个凭证”没有明确当前已收集哪些字段。</a:t>
            </a:r>
          </a:p>
          <a:p>
            <a:pPr>
              <a:spcAft>
                <a:spcPts val="800"/>
              </a:spcAft>
              <a:defRPr sz="1400">
                <a:solidFill>
                  <a:srgbClr val="2A3545"/>
                </a:solidFill>
                <a:latin typeface="Microsoft YaHei"/>
              </a:defRPr>
            </a:pPr>
            <a:r>
              <a:t>• 没有把 credential count、字段可用性和系统返回结果写成可判定 guard。</a:t>
            </a:r>
          </a:p>
          <a:p>
            <a:pPr>
              <a:spcAft>
                <a:spcPts val="800"/>
              </a:spcAft>
              <a:defRPr sz="1400">
                <a:solidFill>
                  <a:srgbClr val="2A3545"/>
                </a:solidFill>
                <a:latin typeface="Microsoft YaHei"/>
              </a:defRPr>
            </a:pPr>
            <a:r>
              <a:t>• 同一段文字同时描述 ask、verify、失败重试，执行边界仍依赖模型临场推断。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4773168"/>
            <a:ext cx="3246120" cy="4114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BB3F45"/>
                </a:solidFill>
                <a:latin typeface="Microsoft YaHei"/>
              </a:rPr>
              <a:t>需要 State–Guard–Action–Transition，而不仅是流程叙述。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方向二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把规则表示成 State–Guard–Action–Transition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659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3" y="2093976"/>
            <a:ext cx="17190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State
当前状态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33472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02051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9659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2093976"/>
            <a:ext cx="17190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Guard
前置条件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55464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924044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196596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93976"/>
            <a:ext cx="158191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Action
执行动作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0296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08876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6056" y="1965960"/>
            <a:ext cx="196596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2093976"/>
            <a:ext cx="1856231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Transition
下一状态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37560"/>
            <a:ext cx="91440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18B81"/>
                </a:solidFill>
                <a:latin typeface="Microsoft YaHei"/>
              </a:rPr>
              <a:t>示例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75887"/>
            <a:ext cx="10652760" cy="105156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986784"/>
            <a:ext cx="1005840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42540"/>
                </a:solidFill>
                <a:latin typeface="Consolas"/>
              </a:rPr>
              <a:t>account_identified + {name, phone, email}  →  verify-identity  →  identity_verified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90288"/>
            <a:ext cx="1005840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2A3545"/>
                </a:solidFill>
                <a:latin typeface="Consolas"/>
              </a:rPr>
              <a:t>account_identified + {name, phone}  →  ask-for-credential  →  verification_incomplete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5394960"/>
            <a:ext cx="5257800" cy="310896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5431536"/>
            <a:ext cx="518464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18B81"/>
                </a:solidFill>
                <a:latin typeface="Microsoft YaHei"/>
              </a:rPr>
              <a:t>规则不是互相覆盖，而是由状态条件选择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统一机制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Reference-use policy：教会 Skill 何时查、查什么、如何用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96596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093976"/>
            <a:ext cx="12618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观察状态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93391" y="2331720"/>
            <a:ext cx="320041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61971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1965960"/>
            <a:ext cx="1600200" cy="73152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4016" y="2093976"/>
            <a:ext cx="149047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判断是否需要查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86784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5364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965960"/>
            <a:ext cx="155448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7" y="2093976"/>
            <a:ext cx="144475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检索对应证据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34456" y="2331720"/>
            <a:ext cx="320040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03036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965960"/>
            <a:ext cx="1508760" cy="7315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2093976"/>
            <a:ext cx="1399031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ground + apply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36407" y="2331720"/>
            <a:ext cx="320041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04988" y="2176272"/>
            <a:ext cx="18288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768B4"/>
                </a:solidFill>
                <a:latin typeface="Microsoft YaHe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2167" y="1965960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2093976"/>
            <a:ext cx="1307592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42540"/>
                </a:solidFill>
                <a:latin typeface="Microsoft YaHei"/>
              </a:rPr>
              <a:t>验证后执行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52044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352044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DC792B"/>
          </a:solidFill>
          <a:ln>
            <a:solidFill>
              <a:srgbClr val="DC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68503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何时查？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087368"/>
            <a:ext cx="2834639" cy="84124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状态不确定、动作边界不清、slot schema 不确定时。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52044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60" y="352044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368503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查什么？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087368"/>
            <a:ext cx="2834639" cy="84124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查 action schema、branch condition、boundary case，而非只查关键词。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3520440"/>
            <a:ext cx="3246120" cy="155448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83879" y="3520440"/>
            <a:ext cx="73152" cy="155448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685032"/>
            <a:ext cx="2834639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如何用？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087368"/>
            <a:ext cx="2834639" cy="84124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A3545"/>
                </a:solidFill>
                <a:latin typeface="Microsoft YaHei"/>
              </a:rPr>
              <a:t>把 reference 当规则证据；slot 值必须来自当前对话。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42540"/>
                </a:solidFill>
                <a:latin typeface="Microsoft YaHei"/>
              </a:rPr>
              <a:t>Reference 不再是被动示例，而是 Skill 执行过程中的知识工具。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方法框架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两类 Skill 共同构成一个可执行的表示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691640"/>
            <a:ext cx="5074920" cy="3246120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73152" cy="32461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5623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Task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4663440" cy="25328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state → business action
account_identified + enough credentials
→ verify-identity
identity_verified
→ send-link
verification_failed
→ retry / escalate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5074920" cy="324612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73152" cy="3246120"/>
          </a:xfrm>
          <a:prstGeom prst="roundRect">
            <a:avLst>
              <a:gd name="adj" fmla="val 8000"/>
            </a:avLst>
          </a:prstGeom>
          <a:solidFill>
            <a:srgbClr val="118B81"/>
          </a:solidFill>
          <a:ln>
            <a:solidFill>
              <a:srgbClr val="11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56232"/>
            <a:ext cx="4663440" cy="29260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42540"/>
                </a:solidFill>
                <a:latin typeface="Microsoft YaHei"/>
              </a:rPr>
              <a:t>Reference-use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258568"/>
            <a:ext cx="4663440" cy="2532887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A3545"/>
                </a:solidFill>
                <a:latin typeface="Microsoft YaHei"/>
              </a:rPr>
              <a:t>state + uncertainty → retrieval
retrieve-or-act
query construction
evidence grounding
applicability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32720" cy="438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142540"/>
                </a:solidFill>
                <a:latin typeface="Consolas"/>
              </a:rPr>
              <a:t>Skill = π_task ⊕ π_reference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25312"/>
            <a:ext cx="10332720" cy="2560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500" b="0">
                <a:solidFill>
                  <a:srgbClr val="657485"/>
                </a:solidFill>
                <a:latin typeface="Microsoft YaHei"/>
              </a:rPr>
              <a:t>前者决定做什么，后者决定何时查证据以及如何把证据转成行动。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实验计划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用 bad case 验证两条方向，而不是只看总体分数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27632"/>
            <a:ext cx="1965960" cy="804672"/>
          </a:xfrm>
          <a:prstGeom prst="roundRect">
            <a:avLst>
              <a:gd name="adj" fmla="val 8000"/>
            </a:avLst>
          </a:prstGeom>
          <a:solidFill>
            <a:srgbClr val="FDF0E0"/>
          </a:solidFill>
          <a:ln>
            <a:solidFill>
              <a:srgbClr val="FD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56232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DC792B"/>
                </a:solidFill>
                <a:latin typeface="Microsoft YaHei"/>
              </a:rPr>
              <a:t>Macro 泛化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27632"/>
            <a:ext cx="4297680" cy="80467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1792224"/>
            <a:ext cx="3886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42540"/>
                </a:solidFill>
                <a:latin typeface="Microsoft YaHei"/>
              </a:rPr>
              <a:t>训练中出现流程，测试中替换实体 / 说法 / slot 组合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627632"/>
            <a:ext cx="397763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792224"/>
            <a:ext cx="352044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A3545"/>
                </a:solidFill>
                <a:latin typeface="Microsoft YaHei"/>
              </a:rPr>
              <a:t>entity grounding · unseen-variant success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1965960" cy="804672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999232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18B81"/>
                </a:solidFill>
                <a:latin typeface="Microsoft YaHei"/>
              </a:rPr>
              <a:t>分支一致性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770632"/>
            <a:ext cx="4297680" cy="80467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935224"/>
            <a:ext cx="3886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42540"/>
                </a:solidFill>
                <a:latin typeface="Microsoft YaHei"/>
              </a:rPr>
              <a:t>相同 intent，控制当前 state 和已有凭证数量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770632"/>
            <a:ext cx="397763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935224"/>
            <a:ext cx="352044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A3545"/>
                </a:solidFill>
                <a:latin typeface="Microsoft YaHei"/>
              </a:rPr>
              <a:t>branch accuracy · conflict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13632"/>
            <a:ext cx="1965960" cy="804672"/>
          </a:xfrm>
          <a:prstGeom prst="roundRect">
            <a:avLst>
              <a:gd name="adj" fmla="val 8000"/>
            </a:avLst>
          </a:prstGeom>
          <a:solidFill>
            <a:srgbClr val="E8F2FD"/>
          </a:solidFill>
          <a:ln>
            <a:solidFill>
              <a:srgbClr val="E8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42232"/>
            <a:ext cx="16459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768B4"/>
                </a:solidFill>
                <a:latin typeface="Microsoft YaHei"/>
              </a:rPr>
              <a:t>Reference 使用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13632"/>
            <a:ext cx="4297680" cy="80467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4078224"/>
            <a:ext cx="388620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42540"/>
                </a:solidFill>
                <a:latin typeface="Microsoft YaHei"/>
              </a:rPr>
              <a:t>对比不查、盲查、state-aware 查阅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3913632"/>
            <a:ext cx="3977639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4078224"/>
            <a:ext cx="3520440" cy="4572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A3545"/>
                </a:solidFill>
                <a:latin typeface="Microsoft YaHei"/>
              </a:rPr>
              <a:t>retrieval value · misuse rate · token efficiency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5257800"/>
            <a:ext cx="5852160" cy="310896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5294376"/>
            <a:ext cx="5779008" cy="210312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18B81"/>
                </a:solidFill>
                <a:latin typeface="Microsoft YaHei"/>
              </a:rPr>
              <a:t>问题页已使用真实生成 Skill 原文摘录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657485"/>
                </a:solidFill>
                <a:latin typeface="Microsoft YaHei"/>
              </a:rPr>
              <a:t>最小证据单元：原始轨迹 + 生成 Skill + reference + 预测 + 结果。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438912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Microsoft YaHei"/>
              </a:rPr>
              <a:t>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3035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42540"/>
                </a:solidFill>
                <a:latin typeface="Microsoft YaHei"/>
              </a:rPr>
              <a:t>我们的贡献不是更长的 Skill，而是更会使用证据的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92608"/>
            <a:ext cx="457200" cy="2286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1000" b="1">
                <a:solidFill>
                  <a:srgbClr val="657485"/>
                </a:solidFill>
                <a:latin typeface="Microsoft YaHei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34440"/>
            <a:ext cx="11128248" cy="0"/>
          </a:xfrm>
          <a:prstGeom prst="line">
            <a:avLst/>
          </a:prstGeom>
          <a:ln w="1016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600200"/>
            <a:ext cx="10744200" cy="1280160"/>
          </a:xfrm>
          <a:prstGeom prst="roundRect">
            <a:avLst>
              <a:gd name="adj" fmla="val 8000"/>
            </a:avLst>
          </a:prstGeom>
          <a:solidFill>
            <a:srgbClr val="142540"/>
          </a:solidFill>
          <a:ln>
            <a:solidFill>
              <a:srgbClr val="14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10104120" cy="68580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从具体轨迹中学习可迁移的 Macro Skill，
并用状态条件组织不同分支规则。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Macro Skill：把实例行为提升为可替换、可迁移的程序结构</a:t>
            </a:r>
          </a:p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State-conditioned Skill：用 State–Guard–Action–Transition 区分分支</a:t>
            </a:r>
          </a:p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Reference-use Policy：学习何时查、查什么、如何 grounding 和验证</a:t>
            </a:r>
          </a:p>
          <a:p>
            <a:pPr>
              <a:spcAft>
                <a:spcPts val="800"/>
              </a:spcAft>
              <a:defRPr sz="1800">
                <a:solidFill>
                  <a:srgbClr val="2A3545"/>
                </a:solidFill>
                <a:latin typeface="Microsoft YaHei"/>
              </a:defRPr>
            </a:pPr>
            <a:r>
              <a:t>• Bad-case-driven evaluation：用可控反例验证泛化与规则一致性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70332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solidFill>
              <a:srgbClr val="E5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08592" y="3913632"/>
            <a:ext cx="1600200" cy="777240"/>
          </a:xfrm>
          <a:prstGeom prst="rect">
            <a:avLst/>
          </a:prstGeom>
          <a:noFill/>
        </p:spPr>
        <p:txBody>
          <a:bodyPr wrap="square" lIns="54864" rIns="54864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118B81"/>
                </a:solidFill>
                <a:latin typeface="Microsoft YaHei"/>
              </a:rPr>
              <a:t>可复用
可分支
可验证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5760720"/>
            <a:ext cx="2103120" cy="2743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768B4"/>
                </a:solidFill>
                <a:latin typeface="Microsoft YaHei"/>
              </a:rPr>
              <a:t>Thank you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" y="6510528"/>
            <a:ext cx="11128248" cy="0"/>
          </a:xfrm>
          <a:prstGeom prst="line">
            <a:avLst/>
          </a:prstGeom>
          <a:ln w="8890">
            <a:solidFill>
              <a:srgbClr val="DA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574536"/>
            <a:ext cx="5486400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/>
            <a:r>
              <a:rPr sz="800" b="0">
                <a:solidFill>
                  <a:srgbClr val="657485"/>
                </a:solidFill>
                <a:latin typeface="Microsoft YaHei"/>
              </a:rPr>
              <a:t>从轨迹中学习可复用、可分支、可验证的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74536"/>
            <a:ext cx="384048" cy="15544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r"/>
            <a:r>
              <a:rPr sz="800" b="0">
                <a:solidFill>
                  <a:srgbClr val="657485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