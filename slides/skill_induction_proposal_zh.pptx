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0"/>
          </a:solidFill>
          <a:ln>
            <a:solidFill>
              <a:srgbClr val="14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68112"/>
            <a:ext cx="12191695" cy="1389888"/>
          </a:xfrm>
          <a:prstGeom prst="rect">
            <a:avLst/>
          </a:prstGeom>
          <a:solidFill>
            <a:srgbClr val="2768B4"/>
          </a:solidFill>
          <a:ln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274320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200" b="1">
                <a:solidFill>
                  <a:srgbClr val="A8D3F8"/>
                </a:solidFill>
                <a:latin typeface="Microsoft YaHei"/>
              </a:rPr>
              <a:t>研究方案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9601200" cy="11430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从轨迹中学习
可复用、可分支的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90672"/>
            <a:ext cx="804672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000" b="0">
                <a:solidFill>
                  <a:srgbClr val="DAE8F8"/>
                </a:solidFill>
                <a:latin typeface="Microsoft YaHei"/>
              </a:rPr>
              <a:t>两个方向：Macro Skill  ·  State-conditioned 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833872"/>
            <a:ext cx="457200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作者姓名 · 单位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5852160"/>
            <a:ext cx="219456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200" b="0">
                <a:solidFill>
                  <a:srgbClr val="DAE8F8"/>
                </a:solidFill>
                <a:latin typeface="Microsoft YaHei"/>
              </a:rPr>
              <a:t>Research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研究动机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现有方法能生成 Skill，但还没有解决两个结构性问题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536192"/>
            <a:ext cx="1060704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142540"/>
                </a:solidFill>
                <a:latin typeface="Microsoft YaHei"/>
              </a:rPr>
              <a:t>AWM 与 Trace2Skill 的输出分别暴露出两种问题：一个偏向记忆具体轨迹，一个缺少状态条件。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5074920" cy="251460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73152" cy="2514600"/>
          </a:xfrm>
          <a:prstGeom prst="roundRect">
            <a:avLst>
              <a:gd name="adj" fmla="val 8000"/>
            </a:avLst>
          </a:prstGeom>
          <a:solidFill>
            <a:srgbClr val="DC792B"/>
          </a:solidFill>
          <a:ln>
            <a:solidFill>
              <a:srgbClr val="DC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04872"/>
            <a:ext cx="466344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方向一：泛化性不足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4663440" cy="18013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800" b="0">
                <a:solidFill>
                  <a:srgbClr val="2A3545"/>
                </a:solidFill>
                <a:latin typeface="Microsoft YaHei"/>
              </a:rPr>
              <a:t>Skill 记住了具体姓名、账号、slot 值或动作序列。
问题：它描述的是一条轨迹，而不是可替换参数的程序。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40280"/>
            <a:ext cx="5074920" cy="251460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240280"/>
            <a:ext cx="73152" cy="2514600"/>
          </a:xfrm>
          <a:prstGeom prst="roundRect">
            <a:avLst>
              <a:gd name="adj" fmla="val 8000"/>
            </a:avLst>
          </a:prstGeom>
          <a:solidFill>
            <a:srgbClr val="2768B4"/>
          </a:solidFill>
          <a:ln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404872"/>
            <a:ext cx="466344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方向二：分支条件缺失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807208"/>
            <a:ext cx="4663440" cy="18013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800" b="0">
                <a:solidFill>
                  <a:srgbClr val="2A3545"/>
                </a:solidFill>
                <a:latin typeface="Microsoft YaHei"/>
              </a:rPr>
              <a:t>不同状态下都出现了局部规则。
问题：规则被平铺后，看起来互相冲突，实际缺少状态条件。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118B81"/>
                </a:solidFill>
                <a:latin typeface="Microsoft YaHei"/>
              </a:rPr>
              <a:t>共同缺口：轨迹经验没有被组织成可复用、带条件的程序性知识。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方向一 · MACRO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我们需要学习程序结构，而不是保留轨迹实例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600200"/>
            <a:ext cx="91440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200" b="1">
                <a:solidFill>
                  <a:srgbClr val="DC792B"/>
                </a:solidFill>
                <a:latin typeface="Microsoft YaHei"/>
              </a:rPr>
              <a:t>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47548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42540"/>
                </a:solidFill>
                <a:latin typeface="Microsoft YaHei"/>
              </a:rPr>
              <a:t>从具体实例中抽取可替换的操作模板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1645920" cy="73152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871216"/>
            <a:ext cx="153619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具体轨迹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96312" y="3108960"/>
            <a:ext cx="320040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64892" y="295351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2743200"/>
            <a:ext cx="1920240" cy="73152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6936" y="2871216"/>
            <a:ext cx="181051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动作 + 实例值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09744" y="3108960"/>
            <a:ext cx="320040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78324" y="295351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75504" y="274320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0368" y="2871216"/>
            <a:ext cx="171907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参数化 Skill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664208"/>
            <a:ext cx="4434840" cy="30175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0" y="1664208"/>
            <a:ext cx="73152" cy="3017520"/>
          </a:xfrm>
          <a:prstGeom prst="roundRect">
            <a:avLst>
              <a:gd name="adj" fmla="val 8000"/>
            </a:avLst>
          </a:prstGeom>
          <a:solidFill>
            <a:srgbClr val="118B81"/>
          </a:solidFill>
          <a:ln>
            <a:solidFill>
              <a:srgbClr val="11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1828800"/>
            <a:ext cx="402335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Macro Skill 应该保留什么？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231136"/>
            <a:ext cx="4023359" cy="230428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0">
                <a:solidFill>
                  <a:srgbClr val="2A3545"/>
                </a:solidFill>
                <a:latin typeface="Microsoft YaHei"/>
              </a:rPr>
              <a:t>保留：
• 状态变化
• 动作前置条件
• slot 类型与顺序
• 任务完成条件
替换：姓名、账号、电话等实例值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方向一 · BAD CASE（示意）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同一个流程，换了实体就无法复用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572768"/>
            <a:ext cx="13716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100" b="1">
                <a:solidFill>
                  <a:srgbClr val="DC792B"/>
                </a:solidFill>
                <a:latin typeface="Microsoft YaHei"/>
              </a:rPr>
              <a:t>训练轨迹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4892040" cy="251460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297680" cy="1737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800" b="0">
                <a:solidFill>
                  <a:srgbClr val="2A3545"/>
                </a:solidFill>
                <a:latin typeface="Consolas"/>
              </a:rPr>
              <a:t>姓名：Chloe Zhang
电话：(482) 837-8571
动作：verify-identity
生成结果：
verify-identity:Chloe Zhang,...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572768"/>
            <a:ext cx="13716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768B4"/>
                </a:solidFill>
                <a:latin typeface="Microsoft YaHei"/>
              </a:rPr>
              <a:t>新轨迹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874519"/>
            <a:ext cx="5349240" cy="251460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194560"/>
            <a:ext cx="4663440" cy="1737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800" b="0">
                <a:solidFill>
                  <a:srgbClr val="2A3545"/>
                </a:solidFill>
                <a:latin typeface="Consolas"/>
              </a:rPr>
              <a:t>姓名：Alice Smith
电话：51909
流程结构相同，实体值不同
期望：
verify-identity(Alice Smith, ...)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4736592"/>
            <a:ext cx="5669280" cy="310896"/>
          </a:xfrm>
          <a:prstGeom prst="roundRect">
            <a:avLst>
              <a:gd name="adj" fmla="val 8000"/>
            </a:avLst>
          </a:prstGeom>
          <a:solidFill>
            <a:srgbClr val="FCEAEB"/>
          </a:solidFill>
          <a:ln>
            <a:solidFill>
              <a:srgbClr val="FCE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82696" y="4773168"/>
            <a:ext cx="5596128" cy="21031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BB3F45"/>
                </a:solidFill>
                <a:latin typeface="Microsoft YaHei"/>
              </a:rPr>
              <a:t>Mock case：待替换为真实 paired trace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349240"/>
            <a:ext cx="978408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142540"/>
                </a:solidFill>
                <a:latin typeface="Microsoft YaHei"/>
              </a:rPr>
              <a:t>原因：生成器把“发生过的实例”当成“应该复用的规则”。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806440"/>
            <a:ext cx="978408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118B81"/>
                </a:solidFill>
                <a:latin typeface="Microsoft YaHei"/>
              </a:rPr>
              <a:t>Insight：Skill 需要显式的变量、slot schema 与 grounding 机制。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方向一 · 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从 Trace Skill 到 Macro Skill：学习可组合的程序模板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645920"/>
            <a:ext cx="3337560" cy="34747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73152" cy="3474720"/>
          </a:xfrm>
          <a:prstGeom prst="roundRect">
            <a:avLst>
              <a:gd name="adj" fmla="val 8000"/>
            </a:avLst>
          </a:prstGeom>
          <a:solidFill>
            <a:srgbClr val="2768B4"/>
          </a:solidFill>
          <a:ln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292607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1. 抽取结构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2926079" cy="276148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A3545"/>
                </a:solidFill>
                <a:latin typeface="Microsoft YaHei"/>
              </a:rPr>
              <a:t>从轨迹中识别：
状态、动作、slot、结果
保留原始值用于追溯，
使用类型用于泛化。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337560" cy="34747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73152" cy="3474720"/>
          </a:xfrm>
          <a:prstGeom prst="roundRect">
            <a:avLst>
              <a:gd name="adj" fmla="val 8000"/>
            </a:avLst>
          </a:prstGeom>
          <a:solidFill>
            <a:srgbClr val="118B81"/>
          </a:solidFill>
          <a:ln>
            <a:solidFill>
              <a:srgbClr val="11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10512"/>
            <a:ext cx="292607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2. 变量化规则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12848"/>
            <a:ext cx="2926079" cy="276148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A3545"/>
                </a:solidFill>
                <a:latin typeface="Microsoft YaHei"/>
              </a:rPr>
              <a:t>将具体实例归一化为：
PERSON_NAME
PHONE
ACCOUNT_ID
形成参数化动作模板。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645920"/>
            <a:ext cx="3337560" cy="347472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79" y="1645920"/>
            <a:ext cx="73152" cy="3474720"/>
          </a:xfrm>
          <a:prstGeom prst="roundRect">
            <a:avLst>
              <a:gd name="adj" fmla="val 8000"/>
            </a:avLst>
          </a:prstGeom>
          <a:solidFill>
            <a:srgbClr val="DC792B"/>
          </a:solidFill>
          <a:ln>
            <a:solidFill>
              <a:srgbClr val="DC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10512"/>
            <a:ext cx="292607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3. 跨轨迹验证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12848"/>
            <a:ext cx="2926079" cy="276148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A3545"/>
                </a:solidFill>
                <a:latin typeface="Microsoft YaHei"/>
              </a:rPr>
              <a:t>在新实体、新措辞、
新 slot 组合上回放。
只有可迁移的结构
才能提升为 Macro Skill。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715000"/>
            <a:ext cx="1005840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142540"/>
                </a:solidFill>
                <a:latin typeface="Microsoft YaHei"/>
              </a:rPr>
              <a:t>具体轨迹  →  参数化子程序  →  可迁移 Macro Skill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方向二 · STATE-CONDITIONED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规则冲突，往往是状态条件被压平后的结果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554480"/>
            <a:ext cx="1042416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142540"/>
                </a:solidFill>
                <a:latin typeface="Microsoft YaHei"/>
              </a:rPr>
              <a:t>两个规则都可能正确，关键在于它们对应不同状态。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50876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368296"/>
            <a:ext cx="1399031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账户已识别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67712" y="2606040"/>
            <a:ext cx="320040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36292" y="245059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33472" y="2240280"/>
            <a:ext cx="1325880" cy="7315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88336" y="2368296"/>
            <a:ext cx="121615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2 个凭证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86784" y="2606040"/>
            <a:ext cx="320040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55364" y="245059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2240280"/>
            <a:ext cx="109728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7" y="2368296"/>
            <a:ext cx="98755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verify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77256" y="2606040"/>
            <a:ext cx="320040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545836" y="245059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43016" y="2240280"/>
            <a:ext cx="1234440" cy="7315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79" y="2368296"/>
            <a:ext cx="112471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验证成功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03320"/>
            <a:ext cx="150876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831335"/>
            <a:ext cx="1399031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账户已识别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67712" y="4069080"/>
            <a:ext cx="320040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36292" y="391363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33472" y="3703320"/>
            <a:ext cx="1325880" cy="73152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88336" y="3831335"/>
            <a:ext cx="121615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1 个凭证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986784" y="4069080"/>
            <a:ext cx="320040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055364" y="391363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2544" y="3703320"/>
            <a:ext cx="1234440" cy="73152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07407" y="3831335"/>
            <a:ext cx="112471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继续询问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14416" y="4069080"/>
            <a:ext cx="320039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82996" y="391363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80176" y="3703320"/>
            <a:ext cx="123444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3831335"/>
            <a:ext cx="112471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验证阶段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2468880"/>
            <a:ext cx="9144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768B4"/>
                </a:solidFill>
                <a:latin typeface="Microsoft YaHei"/>
              </a:rPr>
              <a:t>分支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3931920"/>
            <a:ext cx="9144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200" b="1">
                <a:solidFill>
                  <a:srgbClr val="DC792B"/>
                </a:solidFill>
                <a:latin typeface="Microsoft YaHei"/>
              </a:rPr>
              <a:t>分支 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12280" y="2103120"/>
            <a:ext cx="4480560" cy="2331720"/>
          </a:xfrm>
          <a:prstGeom prst="roundRect">
            <a:avLst>
              <a:gd name="adj" fmla="val 8000"/>
            </a:avLst>
          </a:prstGeom>
          <a:solidFill>
            <a:srgbClr val="FCEAEB"/>
          </a:solidFill>
          <a:ln>
            <a:solidFill>
              <a:srgbClr val="FCE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0" y="2395728"/>
            <a:ext cx="34747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300" b="1">
                <a:solidFill>
                  <a:srgbClr val="BB3F45"/>
                </a:solidFill>
                <a:latin typeface="Microsoft YaHei"/>
              </a:rPr>
              <a:t>扁平文本中的错误表达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2926080"/>
            <a:ext cx="3657600" cy="7498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142540"/>
                </a:solidFill>
                <a:latin typeface="Microsoft YaHei"/>
              </a:rPr>
              <a:t>“需要验证身份。”
“需要继续请求凭证。”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3913632"/>
            <a:ext cx="3749039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BB3F45"/>
                </a:solidFill>
                <a:latin typeface="Microsoft YaHei"/>
              </a:rPr>
              <a:t>没有 state / guard，就无法知道何时使用哪条规则。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方向二 · 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把规则表示成 State–Guard–Action–Transition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96596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3" y="2093976"/>
            <a:ext cx="171907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State
当前状态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33472" y="2331720"/>
            <a:ext cx="320040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02051" y="217627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196596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4096" y="2093976"/>
            <a:ext cx="171907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Guard
前置条件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55464" y="2331720"/>
            <a:ext cx="320040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924044" y="217627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21224" y="1965960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2093976"/>
            <a:ext cx="158191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Action
执行动作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40296" y="2331720"/>
            <a:ext cx="320040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008876" y="217627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06056" y="196596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2093976"/>
            <a:ext cx="1856231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Transition
下一状态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37560"/>
            <a:ext cx="91440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18B81"/>
                </a:solidFill>
                <a:latin typeface="Microsoft YaHei"/>
              </a:rPr>
              <a:t>示例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675887"/>
            <a:ext cx="10652760" cy="105156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986784"/>
            <a:ext cx="1005840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142540"/>
                </a:solidFill>
                <a:latin typeface="Consolas"/>
              </a:rPr>
              <a:t>account_identified + {name, phone, email}  →  verify-identity  →  identity_verified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590288"/>
            <a:ext cx="1005840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0">
                <a:solidFill>
                  <a:srgbClr val="2A3545"/>
                </a:solidFill>
                <a:latin typeface="Consolas"/>
              </a:rPr>
              <a:t>account_identified + {name, phone}  →  ask-for-credential  →  verification_incomplete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5394960"/>
            <a:ext cx="5257800" cy="310896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5431536"/>
            <a:ext cx="5184648" cy="21031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18B81"/>
                </a:solidFill>
                <a:latin typeface="Microsoft YaHei"/>
              </a:rPr>
              <a:t>规则不是互相覆盖，而是由状态条件选择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统一机制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Reference-use policy：教会 Skill 何时查、查什么、如何用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965960"/>
            <a:ext cx="137160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2093976"/>
            <a:ext cx="126187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观察状态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93391" y="2331720"/>
            <a:ext cx="320041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61971" y="217627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9152" y="1965960"/>
            <a:ext cx="1600200" cy="73152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14016" y="2093976"/>
            <a:ext cx="149047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判断是否需要查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86784" y="2331720"/>
            <a:ext cx="320040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55364" y="217627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1965960"/>
            <a:ext cx="1554480" cy="7315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7" y="2093976"/>
            <a:ext cx="144475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检索对应证据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34456" y="2331720"/>
            <a:ext cx="320040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03036" y="217627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1965960"/>
            <a:ext cx="150876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2093976"/>
            <a:ext cx="1399031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ground + apply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36407" y="2331720"/>
            <a:ext cx="320041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04988" y="217627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02167" y="1965960"/>
            <a:ext cx="1417320" cy="7315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2093976"/>
            <a:ext cx="130759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验证后执行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520440"/>
            <a:ext cx="3246120" cy="155448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3520440"/>
            <a:ext cx="73152" cy="1554480"/>
          </a:xfrm>
          <a:prstGeom prst="roundRect">
            <a:avLst>
              <a:gd name="adj" fmla="val 8000"/>
            </a:avLst>
          </a:prstGeom>
          <a:solidFill>
            <a:srgbClr val="DC792B"/>
          </a:solidFill>
          <a:ln>
            <a:solidFill>
              <a:srgbClr val="DC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685032"/>
            <a:ext cx="283463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何时查？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087368"/>
            <a:ext cx="2834639" cy="84124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0">
                <a:solidFill>
                  <a:srgbClr val="2A3545"/>
                </a:solidFill>
                <a:latin typeface="Microsoft YaHei"/>
              </a:rPr>
              <a:t>状态不确定、动作边界不清、slot schema 不确定时。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3520440"/>
            <a:ext cx="3246120" cy="155448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80560" y="3520440"/>
            <a:ext cx="73152" cy="1554480"/>
          </a:xfrm>
          <a:prstGeom prst="roundRect">
            <a:avLst>
              <a:gd name="adj" fmla="val 8000"/>
            </a:avLst>
          </a:prstGeom>
          <a:solidFill>
            <a:srgbClr val="118B81"/>
          </a:solidFill>
          <a:ln>
            <a:solidFill>
              <a:srgbClr val="11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3685032"/>
            <a:ext cx="283463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查什么？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4087368"/>
            <a:ext cx="2834639" cy="84124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0">
                <a:solidFill>
                  <a:srgbClr val="2A3545"/>
                </a:solidFill>
                <a:latin typeface="Microsoft YaHei"/>
              </a:rPr>
              <a:t>查 action schema、branch condition、boundary case，而非只查关键词。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3520440"/>
            <a:ext cx="3246120" cy="155448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83879" y="3520440"/>
            <a:ext cx="73152" cy="1554480"/>
          </a:xfrm>
          <a:prstGeom prst="roundRect">
            <a:avLst>
              <a:gd name="adj" fmla="val 8000"/>
            </a:avLst>
          </a:prstGeom>
          <a:solidFill>
            <a:srgbClr val="2768B4"/>
          </a:solidFill>
          <a:ln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3685032"/>
            <a:ext cx="283463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如何用？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087368"/>
            <a:ext cx="2834639" cy="84124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0">
                <a:solidFill>
                  <a:srgbClr val="2A3545"/>
                </a:solidFill>
                <a:latin typeface="Microsoft YaHei"/>
              </a:rPr>
              <a:t>把 reference 当规则证据；slot 值必须来自当前对话。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142540"/>
                </a:solidFill>
                <a:latin typeface="Microsoft YaHei"/>
              </a:rPr>
              <a:t>Reference 不再是被动示例，而是 Skill 执行过程中的知识工具。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方法框架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两类 Skill 共同构成一个可执行的表示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691640"/>
            <a:ext cx="5074920" cy="32461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691640"/>
            <a:ext cx="73152" cy="3246120"/>
          </a:xfrm>
          <a:prstGeom prst="roundRect">
            <a:avLst>
              <a:gd name="adj" fmla="val 8000"/>
            </a:avLst>
          </a:prstGeom>
          <a:solidFill>
            <a:srgbClr val="2768B4"/>
          </a:solidFill>
          <a:ln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56232"/>
            <a:ext cx="466344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Task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58568"/>
            <a:ext cx="4663440" cy="253288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A3545"/>
                </a:solidFill>
                <a:latin typeface="Microsoft YaHei"/>
              </a:rPr>
              <a:t>state → business action
account_identified + enough credentials
→ verify-identity
identity_verified
→ send-link
verification_failed
→ retry / escalate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91640"/>
            <a:ext cx="5074920" cy="32461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691640"/>
            <a:ext cx="73152" cy="3246120"/>
          </a:xfrm>
          <a:prstGeom prst="roundRect">
            <a:avLst>
              <a:gd name="adj" fmla="val 8000"/>
            </a:avLst>
          </a:prstGeom>
          <a:solidFill>
            <a:srgbClr val="118B81"/>
          </a:solidFill>
          <a:ln>
            <a:solidFill>
              <a:srgbClr val="11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856232"/>
            <a:ext cx="466344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Reference-use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258568"/>
            <a:ext cx="4663440" cy="253288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A3545"/>
                </a:solidFill>
                <a:latin typeface="Microsoft YaHei"/>
              </a:rPr>
              <a:t>state + uncertainty → retrieval
retrieve-or-act
query construction
evidence grounding
applicability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33272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142540"/>
                </a:solidFill>
                <a:latin typeface="Consolas"/>
              </a:rPr>
              <a:t>Skill = π_task ⊕ π_reference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25312"/>
            <a:ext cx="1033272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500" b="0">
                <a:solidFill>
                  <a:srgbClr val="657485"/>
                </a:solidFill>
                <a:latin typeface="Microsoft YaHei"/>
              </a:rPr>
              <a:t>前者决定做什么，后者决定何时查证据以及如何把证据转成行动。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实验计划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用 bad case 验证两条方向，而不是只看总体分数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627632"/>
            <a:ext cx="1965960" cy="804672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56232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DC792B"/>
                </a:solidFill>
                <a:latin typeface="Microsoft YaHei"/>
              </a:rPr>
              <a:t>Macro 泛化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627632"/>
            <a:ext cx="4297680" cy="80467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1792224"/>
            <a:ext cx="388620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42540"/>
                </a:solidFill>
                <a:latin typeface="Microsoft YaHei"/>
              </a:rPr>
              <a:t>训练中出现流程，测试中替换实体 / 说法 / slot 组合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627632"/>
            <a:ext cx="3977639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792224"/>
            <a:ext cx="352044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2A3545"/>
                </a:solidFill>
                <a:latin typeface="Microsoft YaHei"/>
              </a:rPr>
              <a:t>entity grounding · unseen-variant success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70632"/>
            <a:ext cx="1965960" cy="804672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999232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18B81"/>
                </a:solidFill>
                <a:latin typeface="Microsoft YaHei"/>
              </a:rPr>
              <a:t>分支一致性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770632"/>
            <a:ext cx="4297680" cy="80467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935224"/>
            <a:ext cx="388620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42540"/>
                </a:solidFill>
                <a:latin typeface="Microsoft YaHei"/>
              </a:rPr>
              <a:t>相同 intent，控制当前 state 和已有凭证数量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770632"/>
            <a:ext cx="3977639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2935224"/>
            <a:ext cx="352044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2A3545"/>
                </a:solidFill>
                <a:latin typeface="Microsoft YaHei"/>
              </a:rPr>
              <a:t>branch accuracy · conflict 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13632"/>
            <a:ext cx="1965960" cy="804672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142232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768B4"/>
                </a:solidFill>
                <a:latin typeface="Microsoft YaHei"/>
              </a:rPr>
              <a:t>Reference 使用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913632"/>
            <a:ext cx="4297680" cy="80467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4078224"/>
            <a:ext cx="388620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42540"/>
                </a:solidFill>
                <a:latin typeface="Microsoft YaHei"/>
              </a:rPr>
              <a:t>对比不查、盲查、state-aware 查阅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3913632"/>
            <a:ext cx="3977639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4078224"/>
            <a:ext cx="352044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2A3545"/>
                </a:solidFill>
                <a:latin typeface="Microsoft YaHei"/>
              </a:rPr>
              <a:t>retrieval value · misuse rate · token efficiency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54680" y="5257800"/>
            <a:ext cx="5852160" cy="310896"/>
          </a:xfrm>
          <a:prstGeom prst="roundRect">
            <a:avLst>
              <a:gd name="adj" fmla="val 8000"/>
            </a:avLst>
          </a:prstGeom>
          <a:solidFill>
            <a:srgbClr val="FCEAEB"/>
          </a:solidFill>
          <a:ln>
            <a:solidFill>
              <a:srgbClr val="FCE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91256" y="5294376"/>
            <a:ext cx="5779008" cy="21031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BB3F45"/>
                </a:solidFill>
                <a:latin typeface="Microsoft YaHei"/>
              </a:rPr>
              <a:t>Mock cases are placeholders for the first empirical study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06440"/>
            <a:ext cx="103327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0">
                <a:solidFill>
                  <a:srgbClr val="657485"/>
                </a:solidFill>
                <a:latin typeface="Microsoft YaHei"/>
              </a:rPr>
              <a:t>最小证据单元：原始轨迹 + 生成 Skill + reference + 预测 + 结果。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贡献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我们的贡献不是更长的 Skill，而是更会使用证据的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600200"/>
            <a:ext cx="10744200" cy="1280160"/>
          </a:xfrm>
          <a:prstGeom prst="roundRect">
            <a:avLst>
              <a:gd name="adj" fmla="val 8000"/>
            </a:avLst>
          </a:prstGeom>
          <a:solidFill>
            <a:srgbClr val="142540"/>
          </a:solidFill>
          <a:ln>
            <a:solidFill>
              <a:srgbClr val="14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01952"/>
            <a:ext cx="10104120" cy="6858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</a:rPr>
              <a:t>从具体轨迹中学习可迁移的 Macro Skill，
并用状态条件组织不同分支规则。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A3545"/>
                </a:solidFill>
                <a:latin typeface="Microsoft YaHei"/>
              </a:defRPr>
            </a:pPr>
            <a:r>
              <a:t>• Macro Skill：把实例行为提升为可替换、可迁移的程序结构</a:t>
            </a:r>
          </a:p>
          <a:p>
            <a:pPr>
              <a:spcAft>
                <a:spcPts val="800"/>
              </a:spcAft>
              <a:defRPr sz="1800">
                <a:solidFill>
                  <a:srgbClr val="2A3545"/>
                </a:solidFill>
                <a:latin typeface="Microsoft YaHei"/>
              </a:defRPr>
            </a:pPr>
            <a:r>
              <a:t>• State-conditioned Skill：用 State–Guard–Action–Transition 区分分支</a:t>
            </a:r>
          </a:p>
          <a:p>
            <a:pPr>
              <a:spcAft>
                <a:spcPts val="800"/>
              </a:spcAft>
              <a:defRPr sz="1800">
                <a:solidFill>
                  <a:srgbClr val="2A3545"/>
                </a:solidFill>
                <a:latin typeface="Microsoft YaHei"/>
              </a:defRPr>
            </a:pPr>
            <a:r>
              <a:t>• Reference-use Policy：学习何时查、查什么、如何 grounding 和验证</a:t>
            </a:r>
          </a:p>
          <a:p>
            <a:pPr>
              <a:spcAft>
                <a:spcPts val="800"/>
              </a:spcAft>
              <a:defRPr sz="1800">
                <a:solidFill>
                  <a:srgbClr val="2A3545"/>
                </a:solidFill>
                <a:latin typeface="Microsoft YaHei"/>
              </a:defRPr>
            </a:pPr>
            <a:r>
              <a:t>• Bad-case-driven evaluation：用可控反例验证泛化与规则一致性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70332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08592" y="3913632"/>
            <a:ext cx="1600200" cy="7772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118B81"/>
                </a:solidFill>
                <a:latin typeface="Microsoft YaHei"/>
              </a:rPr>
              <a:t>可复用
可分支
可验证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5760720"/>
            <a:ext cx="21031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768B4"/>
                </a:solidFill>
                <a:latin typeface="Microsoft YaHei"/>
              </a:rPr>
              <a:t>Thank you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