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3657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A3CFF7"/>
                </a:solidFill>
                <a:latin typeface="Aptos"/>
              </a:rPr>
              <a:t>RESEARCH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13816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From Trajectory Traces
to Reusable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58521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0">
                <a:solidFill>
                  <a:srgbClr val="D6E6F7"/>
                </a:solidFill>
                <a:latin typeface="Aptos"/>
              </a:rPr>
              <a:t>Bad case  →  cause  → 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06440"/>
            <a:ext cx="77724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Two directions: macro skills and reference-use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824728"/>
            <a:ext cx="315468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0">
                <a:solidFill>
                  <a:srgbClr val="D6E6F7"/>
                </a:solidFill>
                <a:latin typeface="Aptos"/>
              </a:rPr>
              <a:t>Working deck · evidence gaps explicitly marked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We have generated skills — but not yet a causal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138E85"/>
          </a:solidFill>
          <a:ln>
            <a:solidFill>
              <a:srgbClr val="138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30175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Observed locally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3017520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52F3F"/>
                </a:solidFill>
                <a:latin typeface="Aptos"/>
              </a:rPr>
              <a:t>Generated artifacts exist:
• AWM-style workflows
• Trace2Skill action protocol
• HG error analysis
• reference.md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91640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69164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E07E36"/>
          </a:solidFill>
          <a:ln>
            <a:solidFill>
              <a:srgbClr val="E0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74520"/>
            <a:ext cx="30175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Missing currently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04288"/>
            <a:ext cx="3017520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52F3F"/>
                </a:solidFill>
                <a:latin typeface="Aptos"/>
              </a:rPr>
              <a:t>No aligned AWM-vs-Trace2Skill
per-turn failure table.
Therefore: candidate bad cases
are marked, not claimed as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691640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1583" y="169164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874520"/>
            <a:ext cx="30175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Research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304288"/>
            <a:ext cx="3017520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52F3F"/>
                </a:solidFill>
                <a:latin typeface="Aptos"/>
              </a:rPr>
              <a:t>Turn artifacts into a testable story:
Bad case
→ root cause
→ design insight
→ measurable intervention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77840"/>
            <a:ext cx="102870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18243A"/>
                </a:solidFill>
                <a:latin typeface="Aptos"/>
              </a:rPr>
              <a:t>Evidence discipline: do not turn a plausible failure into an empirical claim.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GENERATED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Two skills expose complementary symptoms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627632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73152" cy="4160520"/>
          </a:xfrm>
          <a:prstGeom prst="roundRect">
            <a:avLst>
              <a:gd name="adj" fmla="val 8000"/>
            </a:avLst>
          </a:prstGeom>
          <a:solidFill>
            <a:srgbClr val="E07E36"/>
          </a:solidFill>
          <a:ln>
            <a:solidFill>
              <a:srgbClr val="E0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48006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AWM-style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4800600" cy="3401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Rich local advice
• many branches and tone rules
• concrete names, IDs, and slot values
• “follow the action sequence”
• rules can disagree on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627632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27648" y="1627632"/>
            <a:ext cx="73152" cy="41605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810512"/>
            <a:ext cx="48006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Trace2Skill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240280"/>
            <a:ext cx="4800600" cy="3401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Precise local constraints
• action-first
• ordered slots
• no stale values
• but state / action schema stay implicit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5193792"/>
            <a:ext cx="2423160" cy="310896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1016" y="5212079"/>
            <a:ext cx="2350008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E07E36"/>
                </a:solidFill>
                <a:latin typeface="Aptos"/>
              </a:rPr>
              <a:t>rich but instance-heavy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5193792"/>
            <a:ext cx="297180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936" y="5212079"/>
            <a:ext cx="2898648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768B4"/>
                </a:solidFill>
                <a:latin typeface="Aptos"/>
              </a:rPr>
              <a:t>precise but under-contextualized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18243A"/>
                </a:solidFill>
                <a:latin typeface="Aptos"/>
              </a:rPr>
              <a:t>Common question: how does the skill know what evidence to consult, and how to apply it now?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CANDIDATE BAD CASE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Macro skill fails when a workflow memorizes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2763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E07E36"/>
                </a:solidFill>
                <a:latin typeface="Aptos"/>
              </a:rPr>
              <a:t>Observed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983480" cy="214884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67712"/>
            <a:ext cx="448056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0">
                <a:solidFill>
                  <a:srgbClr val="252F3F"/>
                </a:solidFill>
                <a:latin typeface="Consolas"/>
              </a:rPr>
              <a:t>verify-identity:chloe zhang,83942,(482) ...
verify-identity:albert sanders,86227,...
pull-up-account:crystal minh
Follow the action sequence above.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162763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768B4"/>
                </a:solidFill>
                <a:latin typeface="Aptos"/>
              </a:rPr>
              <a:t>Candidate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96596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2350008"/>
            <a:ext cx="1417320" cy="749808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496312"/>
            <a:ext cx="128930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known
workflow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45552" y="2724912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55279" y="2551176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2350008"/>
            <a:ext cx="141732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496312"/>
            <a:ext cx="128930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new
entity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56064" y="2724912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765792" y="2551176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49256" y="2350008"/>
            <a:ext cx="1417320" cy="749808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E4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13264" y="2496312"/>
            <a:ext cx="128930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same
procedure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401568"/>
            <a:ext cx="46634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18243A"/>
                </a:solidFill>
                <a:latin typeface="Aptos"/>
              </a:rPr>
              <a:t>Test whether concrete values are replaced by variables,
not copied from training traces.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4828032"/>
            <a:ext cx="5394960" cy="310896"/>
          </a:xfrm>
          <a:prstGeom prst="roundRect">
            <a:avLst>
              <a:gd name="adj" fmla="val 8000"/>
            </a:avLst>
          </a:prstGeom>
          <a:solidFill>
            <a:srgbClr val="FBE8E8"/>
          </a:solidFill>
          <a:ln>
            <a:solidFill>
              <a:srgbClr val="FB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4846320"/>
            <a:ext cx="5321808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BF4343"/>
                </a:solidFill>
                <a:latin typeface="Aptos"/>
              </a:rPr>
              <a:t>TO FILL: paired unseen-entity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50992"/>
            <a:ext cx="1033272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18243A"/>
                </a:solidFill>
                <a:latin typeface="Aptos"/>
              </a:rPr>
              <a:t>Root cause hypothesis: trajectory examples are stored as procedures, but not parameterized as reusable operators.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CANDIDATE BAD CASE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Rules look contradictory when state conditions are flattened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6002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BF4343"/>
                </a:solidFill>
                <a:latin typeface="Aptos"/>
              </a:rPr>
              <a:t>Two locally reasonable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73152" cy="123444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5720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Rule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45720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Two valid identifiers → verify-identity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456432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3456432"/>
            <a:ext cx="73152" cy="1234440"/>
          </a:xfrm>
          <a:prstGeom prst="roundRect">
            <a:avLst>
              <a:gd name="adj" fmla="val 8000"/>
            </a:avLst>
          </a:prstGeom>
          <a:solidFill>
            <a:srgbClr val="E07E36"/>
          </a:solidFill>
          <a:ln>
            <a:solidFill>
              <a:srgbClr val="E0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457200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Rule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57200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Request one secondary identifier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00200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38E85"/>
                </a:solidFill>
                <a:latin typeface="Aptos"/>
              </a:rPr>
              <a:t>Missing variable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65960"/>
            <a:ext cx="5257800" cy="2724912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E4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1463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5B697C"/>
                </a:solidFill>
                <a:latin typeface="Aptos"/>
              </a:rPr>
              <a:t>current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8"/>
            <a:ext cx="429768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18243A"/>
                </a:solidFill>
                <a:latin typeface="Aptos"/>
              </a:rPr>
              <a:t>account identified
credentials = {name, phone}
identity not verified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3520440"/>
            <a:ext cx="0" cy="338328"/>
          </a:xfrm>
          <a:prstGeom prst="line">
            <a:avLst/>
          </a:prstGeom>
          <a:ln w="27940">
            <a:solidFill>
              <a:srgbClr val="138E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3950208"/>
            <a:ext cx="2103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38E85"/>
                </a:solidFill>
                <a:latin typeface="Aptos"/>
              </a:rPr>
              <a:t>state-conditioned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70248"/>
            <a:ext cx="448056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8243A"/>
                </a:solidFill>
                <a:latin typeface="Aptos"/>
              </a:rPr>
              <a:t>if enough credentials → verify
else → ask for missing credential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5166360"/>
            <a:ext cx="2651760" cy="310896"/>
          </a:xfrm>
          <a:prstGeom prst="roundRect">
            <a:avLst>
              <a:gd name="adj" fmla="val 8000"/>
            </a:avLst>
          </a:prstGeom>
          <a:solidFill>
            <a:srgbClr val="FBE8E8"/>
          </a:solidFill>
          <a:ln>
            <a:solidFill>
              <a:srgbClr val="FB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9856" y="5184648"/>
            <a:ext cx="2578608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BF4343"/>
                </a:solidFill>
                <a:latin typeface="Aptos"/>
              </a:rPr>
              <a:t>not conflict resolution alone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166360"/>
            <a:ext cx="2651760" cy="310896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E4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5184648"/>
            <a:ext cx="2578608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138E85"/>
                </a:solidFill>
                <a:latin typeface="Aptos"/>
              </a:rPr>
              <a:t>branch-condition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806440"/>
            <a:ext cx="795527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B697C"/>
                </a:solidFill>
                <a:latin typeface="Aptos"/>
              </a:rPr>
              <a:t>TO FILL: same-state / different-state paired trajectory case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The missing object is a reference-use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240280"/>
            <a:ext cx="1554480" cy="749808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86584"/>
            <a:ext cx="142646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dialogue
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615184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41448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2240280"/>
            <a:ext cx="1234440" cy="749808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386584"/>
            <a:ext cx="110642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retrieve?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9352" y="2615184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9080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240280"/>
            <a:ext cx="1691640" cy="749808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E4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386584"/>
            <a:ext cx="156362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reference
evidence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44183" y="2615184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53912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224028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2386584"/>
            <a:ext cx="119786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apply
rule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63256" y="2615184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72983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2240280"/>
            <a:ext cx="1143000" cy="749808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E4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2386584"/>
            <a:ext cx="1014983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162763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BF4343"/>
                </a:solidFill>
                <a:latin typeface="Aptos"/>
              </a:rPr>
              <a:t>Current implicit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401568"/>
            <a:ext cx="47548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BF4343"/>
                </a:solidFill>
                <a:latin typeface="Aptos"/>
              </a:rPr>
              <a:t>query by keywords → paste snippets → generate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627632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38E85"/>
                </a:solidFill>
                <a:latin typeface="Aptos"/>
              </a:rPr>
              <a:t>Proposed object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154680"/>
            <a:ext cx="43434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18243A"/>
                </a:solidFill>
                <a:latin typeface="Aptos"/>
              </a:rPr>
              <a:t>a skill that knows when
what and how to 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187952"/>
            <a:ext cx="4297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138E85"/>
                </a:solidFill>
                <a:latin typeface="Aptos"/>
              </a:rPr>
              <a:t>Reference is not passive context.
It is part of the procedure.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CORE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Skill = task policy + reference-use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737360"/>
            <a:ext cx="5029200" cy="347472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6177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Task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4617720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state → business action
Examples:
• account_identified → verify
• identity_verified → send-link
• verification_failed → retry / escalate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029200" cy="347472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138E85"/>
          </a:solidFill>
          <a:ln>
            <a:solidFill>
              <a:srgbClr val="138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46177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Reference-use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50008"/>
            <a:ext cx="4617720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state + uncertainty → query → evidence use
Examples:
• retrieve schema
• retrieve boundary case
• ground current slot values
• validate before acting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3429000"/>
            <a:ext cx="640080" cy="0"/>
          </a:xfrm>
          <a:prstGeom prst="line">
            <a:avLst/>
          </a:prstGeom>
          <a:ln w="3175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8736" y="3227832"/>
            <a:ext cx="310896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400" b="1">
                <a:solidFill>
                  <a:srgbClr val="18243A"/>
                </a:solidFill>
                <a:latin typeface="Aptos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15000"/>
            <a:ext cx="99669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18243A"/>
                </a:solidFill>
                <a:latin typeface="Aptos"/>
              </a:rPr>
              <a:t>A reusable skill must encode both decisions.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PROPOSED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Retrieve, ground, apply,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66928" y="2240280"/>
            <a:ext cx="1280160" cy="749808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2386584"/>
            <a:ext cx="1152143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observe
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47088" y="2615184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56816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79" y="224028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4287" y="2386584"/>
            <a:ext cx="119786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decide
retrieve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59" y="2615184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75887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9352" y="2240280"/>
            <a:ext cx="1325880" cy="749808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E4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386584"/>
            <a:ext cx="119786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query
reference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85232" y="2615184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94960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8424" y="2240280"/>
            <a:ext cx="1508760" cy="749808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386584"/>
            <a:ext cx="1380743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ground
current values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87183" y="2615184"/>
            <a:ext cx="393192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96912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0375" y="2240280"/>
            <a:ext cx="1371600" cy="749808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2386584"/>
            <a:ext cx="124358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apply +
verify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51976" y="2615184"/>
            <a:ext cx="393191" cy="0"/>
          </a:xfrm>
          <a:prstGeom prst="line">
            <a:avLst/>
          </a:prstGeom>
          <a:ln w="25400">
            <a:solidFill>
              <a:srgbClr val="27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61703" y="2441448"/>
            <a:ext cx="164592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800" b="1">
                <a:solidFill>
                  <a:srgbClr val="2768B4"/>
                </a:solidFill>
                <a:latin typeface="Aptos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45167" y="2240280"/>
            <a:ext cx="914400" cy="749808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E4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2386584"/>
            <a:ext cx="786384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8243A"/>
                </a:solidFill>
                <a:latin typeface="Aptos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138E85"/>
                </a:solidFill>
                <a:latin typeface="Aptos"/>
              </a:rPr>
              <a:t>Reference-use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251960"/>
            <a:ext cx="5212080" cy="13258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52F3F"/>
                </a:solidFill>
                <a:latin typeface="Aptos"/>
              </a:defRPr>
            </a:pPr>
            <a:r>
              <a:t>- Is the current state uncertain?</a:t>
            </a:r>
          </a:p>
          <a:p>
            <a:pPr>
              <a:spcAft>
                <a:spcPts val="500"/>
              </a:spcAft>
              <a:defRPr sz="1600">
                <a:solidFill>
                  <a:srgbClr val="252F3F"/>
                </a:solidFill>
                <a:latin typeface="Aptos"/>
              </a:defRPr>
            </a:pPr>
            <a:r>
              <a:t>- What evidence is needed: schema, branch, or example?</a:t>
            </a:r>
          </a:p>
          <a:p>
            <a:pPr>
              <a:spcAft>
                <a:spcPts val="500"/>
              </a:spcAft>
              <a:defRPr sz="1600">
                <a:solidFill>
                  <a:srgbClr val="252F3F"/>
                </a:solidFill>
                <a:latin typeface="Aptos"/>
              </a:defRPr>
            </a:pPr>
            <a:r>
              <a:t>- Which values come from the current dialogue?</a:t>
            </a:r>
          </a:p>
          <a:p>
            <a:pPr>
              <a:spcAft>
                <a:spcPts val="500"/>
              </a:spcAft>
              <a:defRPr sz="1600">
                <a:solidFill>
                  <a:srgbClr val="252F3F"/>
                </a:solidFill>
                <a:latin typeface="Aptos"/>
              </a:defRPr>
            </a:pPr>
            <a:r>
              <a:t>- Does the evidence apply to this state?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886200"/>
            <a:ext cx="4754880" cy="1572768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16052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E07E36"/>
                </a:solidFill>
                <a:latin typeface="Aptos"/>
              </a:rPr>
              <a:t>Key distinction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526280"/>
            <a:ext cx="393192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8243A"/>
                </a:solidFill>
                <a:latin typeface="Aptos"/>
              </a:rPr>
              <a:t>Examples are evidence —
not values to copy.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LEARNING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Teach the skill three reference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737360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2768B4"/>
          </a:solidFill>
          <a:ln>
            <a:solidFill>
              <a:srgbClr val="27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30175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1 · Retrieve or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3017520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Given state s and uncertainty u:
Should the agent act now, or consult reference first?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138E85"/>
          </a:solidFill>
          <a:ln>
            <a:solidFill>
              <a:srgbClr val="138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30175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2 · Query what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0008"/>
            <a:ext cx="3017520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Query by state and decision need:
Action schema?
Boundary condition?
Recovery branch?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737360"/>
            <a:ext cx="3429000" cy="3474720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1737360"/>
            <a:ext cx="73152" cy="3474720"/>
          </a:xfrm>
          <a:prstGeom prst="roundRect">
            <a:avLst>
              <a:gd name="adj" fmla="val 8000"/>
            </a:avLst>
          </a:prstGeom>
          <a:solidFill>
            <a:srgbClr val="E07E36"/>
          </a:solidFill>
          <a:ln>
            <a:solidFill>
              <a:srgbClr val="E07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920240"/>
            <a:ext cx="30175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8243A"/>
                </a:solidFill>
                <a:latin typeface="Aptos"/>
              </a:rPr>
              <a:t>3 · Use and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350008"/>
            <a:ext cx="3017520" cy="27157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252F3F"/>
                </a:solidFill>
                <a:latin typeface="Aptos"/>
              </a:rPr>
              <a:t>Separate:
• hard constraints
• procedural examples
• current slot values
• irrelevant instance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715000"/>
            <a:ext cx="98755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000" b="1">
                <a:solidFill>
                  <a:srgbClr val="18243A"/>
                </a:solidFill>
                <a:latin typeface="Aptos"/>
              </a:rPr>
              <a:t>Training trace: state → query → evidence → action → outcome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EVIDENCE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What bad cases do we still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737360"/>
            <a:ext cx="1508760" cy="530352"/>
          </a:xfrm>
          <a:prstGeom prst="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56231"/>
            <a:ext cx="12893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737360"/>
            <a:ext cx="4983480" cy="530352"/>
          </a:xfrm>
          <a:prstGeom prst="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1856231"/>
            <a:ext cx="476402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Construct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737360"/>
            <a:ext cx="4480560" cy="530352"/>
          </a:xfrm>
          <a:prstGeom prst="rect">
            <a:avLst/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856231"/>
            <a:ext cx="4261104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Measure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95728"/>
            <a:ext cx="150876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514600"/>
            <a:ext cx="128930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52F3F"/>
                </a:solidFill>
                <a:latin typeface="Aptos"/>
              </a:rPr>
              <a:t>Macro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2395728"/>
            <a:ext cx="498348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514600"/>
            <a:ext cx="47640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52F3F"/>
                </a:solidFill>
                <a:latin typeface="Aptos"/>
              </a:rPr>
              <a:t>Seen workflow + unseen entities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95728"/>
            <a:ext cx="448056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514600"/>
            <a:ext cx="426110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52F3F"/>
                </a:solidFill>
                <a:latin typeface="Aptos"/>
              </a:rPr>
              <a:t>parameterized generalization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54096"/>
            <a:ext cx="1508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72968"/>
            <a:ext cx="128930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52F3F"/>
                </a:solidFill>
                <a:latin typeface="Aptos"/>
              </a:rPr>
              <a:t>Branch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2848" y="3054096"/>
            <a:ext cx="4983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22576" y="3172968"/>
            <a:ext cx="47640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52F3F"/>
                </a:solidFill>
                <a:latin typeface="Aptos"/>
              </a:rPr>
              <a:t>Same task + different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3054096"/>
            <a:ext cx="4480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3172968"/>
            <a:ext cx="426110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52F3F"/>
                </a:solidFill>
                <a:latin typeface="Aptos"/>
              </a:rPr>
              <a:t>conditional action accuracy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12464"/>
            <a:ext cx="150876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831336"/>
            <a:ext cx="128930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52F3F"/>
                </a:solidFill>
                <a:latin typeface="Aptos"/>
              </a:rPr>
              <a:t>Reference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3712464"/>
            <a:ext cx="498348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2576" y="3831336"/>
            <a:ext cx="476402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52F3F"/>
                </a:solidFill>
                <a:latin typeface="Aptos"/>
              </a:rPr>
              <a:t>Retrieved example conflicts with dialogue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712464"/>
            <a:ext cx="4480560" cy="566928"/>
          </a:xfrm>
          <a:prstGeom prst="rect">
            <a:avLst/>
          </a:prstGeom>
          <a:solidFill>
            <a:srgbClr val="F4F7FA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831336"/>
            <a:ext cx="4261104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52F3F"/>
                </a:solidFill>
                <a:latin typeface="Aptos"/>
              </a:rPr>
              <a:t>grounding / misuse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572000"/>
            <a:ext cx="5440680" cy="310896"/>
          </a:xfrm>
          <a:prstGeom prst="roundRect">
            <a:avLst>
              <a:gd name="adj" fmla="val 8000"/>
            </a:avLst>
          </a:prstGeom>
          <a:solidFill>
            <a:srgbClr val="FBE8E8"/>
          </a:solidFill>
          <a:ln>
            <a:solidFill>
              <a:srgbClr val="FB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4136" y="4590288"/>
            <a:ext cx="5367528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BF4343"/>
                </a:solidFill>
                <a:latin typeface="Aptos"/>
              </a:rPr>
              <a:t>Current status: case table not yet populated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18243A"/>
                </a:solidFill>
                <a:latin typeface="Aptos"/>
              </a:rPr>
              <a:t>Required artifact: same test trajectory, generated skill, retrieved reference, prediction, outcome.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0">
                <a:solidFill>
                  <a:srgbClr val="5B697C"/>
                </a:solidFill>
                <a:latin typeface="Aptos"/>
              </a:rPr>
              <a:t>No fabricated numbers in this deck.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4389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768B4"/>
                </a:solidFill>
                <a:latin typeface="Aptos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6984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8243A"/>
                </a:solidFill>
                <a:latin typeface="Aptos"/>
              </a:rPr>
              <a:t>The research question is not “how to write longer skills”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47472"/>
            <a:ext cx="411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1100" b="1">
                <a:solidFill>
                  <a:srgbClr val="5B697C"/>
                </a:solidFill>
                <a:latin typeface="Aptos"/>
              </a:rP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298448"/>
            <a:ext cx="11128248" cy="0"/>
          </a:xfrm>
          <a:prstGeom prst="line">
            <a:avLst/>
          </a:prstGeom>
          <a:ln w="10160">
            <a:solidFill>
              <a:srgbClr val="DA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783080"/>
            <a:ext cx="10716768" cy="14173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>
            <a:solidFill>
              <a:srgbClr val="18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10012680" cy="7315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When uncertain, can a skill retrieve the right evidence
and turn it into the right action?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768B4"/>
                </a:solidFill>
                <a:latin typeface="Aptos"/>
              </a:rPr>
              <a:t>Contribution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8046720" cy="13258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52F3F"/>
                </a:solidFill>
                <a:latin typeface="Aptos"/>
              </a:defRPr>
            </a:pPr>
            <a:r>
              <a:t>- Macro skills: parameterize reusable workflow structure</a:t>
            </a:r>
          </a:p>
          <a:p>
            <a:pPr>
              <a:spcAft>
                <a:spcPts val="500"/>
              </a:spcAft>
              <a:defRPr sz="1900">
                <a:solidFill>
                  <a:srgbClr val="252F3F"/>
                </a:solidFill>
                <a:latin typeface="Aptos"/>
              </a:defRPr>
            </a:pPr>
            <a:r>
              <a:t>- Branch-aware rules: condition on state, not flat text</a:t>
            </a:r>
          </a:p>
          <a:p>
            <a:pPr>
              <a:spcAft>
                <a:spcPts val="500"/>
              </a:spcAft>
              <a:defRPr sz="1900">
                <a:solidFill>
                  <a:srgbClr val="252F3F"/>
                </a:solidFill>
                <a:latin typeface="Aptos"/>
              </a:defRPr>
            </a:pPr>
            <a:r>
              <a:t>- Reference-use policy: retrieve, ground, apply, verify</a:t>
            </a:r>
          </a:p>
          <a:p>
            <a:pPr>
              <a:spcAft>
                <a:spcPts val="500"/>
              </a:spcAft>
              <a:defRPr sz="1900">
                <a:solidFill>
                  <a:srgbClr val="252F3F"/>
                </a:solidFill>
                <a:latin typeface="Aptos"/>
              </a:defRPr>
            </a:pPr>
            <a:r>
              <a:t>- Evaluation: bad case → cause → insight → measurable 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663440"/>
            <a:ext cx="2560320" cy="310896"/>
          </a:xfrm>
          <a:prstGeom prst="roundRect">
            <a:avLst>
              <a:gd name="adj" fmla="val 8000"/>
            </a:avLst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5" y="4681727"/>
            <a:ext cx="2487168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E07E36"/>
                </a:solidFill>
                <a:latin typeface="Aptos"/>
              </a:rPr>
              <a:t>Next: collect paired bad cases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" y="6547104"/>
            <a:ext cx="11128248" cy="0"/>
          </a:xfrm>
          <a:prstGeom prst="line">
            <a:avLst/>
          </a:prstGeom>
          <a:ln w="889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601968"/>
            <a:ext cx="5029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5B697C"/>
                </a:solidFill>
                <a:latin typeface="Aptos"/>
              </a:rPr>
              <a:t>Trajectory-to-Skill Research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60196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800" b="0">
                <a:solidFill>
                  <a:srgbClr val="5B697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