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68112"/>
            <a:ext cx="12191695" cy="1389888"/>
          </a:xfrm>
          <a:prstGeom prst="rect">
            <a:avLst/>
          </a:prstGeom>
          <a:solidFill>
            <a:srgbClr val="2168B5"/>
          </a:solidFill>
          <a:ln>
            <a:solidFill>
              <a:srgbClr val="21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32004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A8D3F8"/>
                </a:solidFill>
                <a:latin typeface="Aptos"/>
              </a:rPr>
              <a:t>RESEARCH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9784080" cy="12070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Learning to Use References
for Reusable Skill Induction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804672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000" b="0">
                <a:solidFill>
                  <a:srgbClr val="DAE8F8"/>
                </a:solidFill>
                <a:latin typeface="Aptos"/>
              </a:rPr>
              <a:t>From trajectory-local lessons to state-conditioned procedures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33872"/>
            <a:ext cx="45720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Author Name  ·  Affiliation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852160"/>
            <a:ext cx="21945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200" b="0">
                <a:solidFill>
                  <a:srgbClr val="DAE8F8"/>
                </a:solidFill>
                <a:latin typeface="Aptos"/>
              </a:rPr>
              <a:t>Working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A skill should be reusable — not a transcript in disguise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54480"/>
            <a:ext cx="1069848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32440"/>
                </a:solidFill>
                <a:latin typeface="Aptos"/>
              </a:rPr>
              <a:t>Trajectory-to-skill methods produce useful rules, but the rules often remain tied to how a training trace happened to look.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231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5511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trajectory
trace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24912" y="278892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93492" y="26334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24231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25511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textual
skill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46904" y="278892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15484" y="26334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12664" y="24231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5511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new
trajectory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27432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A3F45"/>
                </a:solidFill>
                <a:latin typeface="Aptos"/>
              </a:rPr>
              <a:t>Where generalization breaks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2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73242"/>
                </a:solidFill>
                <a:latin typeface="Aptos"/>
              </a:defRPr>
            </a:pPr>
            <a:r>
              <a:t>• Concrete entities become fixed rules</a:t>
            </a:r>
          </a:p>
          <a:p>
            <a:pPr>
              <a:spcAft>
                <a:spcPts val="800"/>
              </a:spcAft>
              <a:defRPr sz="1700">
                <a:solidFill>
                  <a:srgbClr val="273242"/>
                </a:solidFill>
                <a:latin typeface="Aptos"/>
              </a:defRPr>
            </a:pPr>
            <a:r>
              <a:t>• Different workflow states are flattened</a:t>
            </a:r>
          </a:p>
          <a:p>
            <a:pPr>
              <a:spcAft>
                <a:spcPts val="800"/>
              </a:spcAft>
              <a:defRPr sz="1700">
                <a:solidFill>
                  <a:srgbClr val="273242"/>
                </a:solidFill>
                <a:latin typeface="Aptos"/>
              </a:defRPr>
            </a:pPr>
            <a:r>
              <a:t>• Reference examples are copied, not interpreted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67328"/>
            <a:ext cx="4800600" cy="141732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041648"/>
            <a:ext cx="201168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300" b="1">
                <a:solidFill>
                  <a:srgbClr val="BA3F45"/>
                </a:solidFill>
                <a:latin typeface="Aptos"/>
              </a:rPr>
              <a:t>Research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407408"/>
            <a:ext cx="40690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300" b="1">
                <a:solidFill>
                  <a:srgbClr val="132440"/>
                </a:solidFill>
                <a:latin typeface="Aptos"/>
              </a:rPr>
              <a:t>Can a skill learn when to consult
reference — and how to use it?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Two generated skills reveal the same missing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600200"/>
            <a:ext cx="5230368" cy="4005072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73152" cy="4005072"/>
          </a:xfrm>
          <a:prstGeom prst="roundRect">
            <a:avLst>
              <a:gd name="adj" fmla="val 8000"/>
            </a:avLst>
          </a:prstGeom>
          <a:solidFill>
            <a:srgbClr val="DE772D"/>
          </a:solidFill>
          <a:ln>
            <a:solidFill>
              <a:srgbClr val="DE7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4818888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32440"/>
                </a:solidFill>
                <a:latin typeface="Aptos"/>
              </a:rPr>
              <a:t>AWM-style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18888" cy="3291839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73242"/>
                </a:solidFill>
                <a:latin typeface="Aptos"/>
              </a:rPr>
              <a:t>Rich local experience
• concrete user / credential values
• many action patterns
• conversational heuristics
• weak parameterization and prioritization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230368" cy="4005072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73152" cy="4005072"/>
          </a:xfrm>
          <a:prstGeom prst="roundRect">
            <a:avLst>
              <a:gd name="adj" fmla="val 8000"/>
            </a:avLst>
          </a:prstGeom>
          <a:solidFill>
            <a:srgbClr val="2168B5"/>
          </a:solidFill>
          <a:ln>
            <a:solidFill>
              <a:srgbClr val="21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64792"/>
            <a:ext cx="4818888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32440"/>
                </a:solidFill>
                <a:latin typeface="Aptos"/>
              </a:rPr>
              <a:t>Trace2Skill-style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67128"/>
            <a:ext cx="4818888" cy="3291839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73242"/>
                </a:solidFill>
                <a:latin typeface="Aptos"/>
              </a:rPr>
              <a:t>Precise action-slot constraints
• action-first decision
• exact slot ordering
• no stale values
• state and schema remain implicit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32440"/>
                </a:solidFill>
                <a:latin typeface="Aptos"/>
              </a:rPr>
              <a:t>Different symptoms, shared gap: the skill does not operationalize evidence use.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BAD CASE 1 · ILLUSTRATIVE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Macro skill: the workflow is remembered, but not parameterized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7276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1">
                <a:solidFill>
                  <a:srgbClr val="DE772D"/>
                </a:solidFill>
                <a:latin typeface="Aptos"/>
              </a:rPr>
              <a:t>TRAINING TRACE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4892040" cy="242316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343400" cy="1828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73242"/>
                </a:solidFill>
                <a:latin typeface="Consolas"/>
              </a:rPr>
              <a:t>Name: Chloe Zhang
Phone: (482) 837-8571
Action: verify-identity
Generated skill:
verify-identity:chloe zhang,...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72768"/>
            <a:ext cx="18288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168B5"/>
                </a:solidFill>
                <a:latin typeface="Aptos"/>
              </a:rPr>
              <a:t>TEST TRACE · MOCK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74519"/>
            <a:ext cx="5349240" cy="242316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4709160" cy="1828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73242"/>
                </a:solidFill>
                <a:latin typeface="Consolas"/>
              </a:rPr>
              <a:t>Name: Alice Smith
Phone: 51909
Same subflow, new entity values
Expected:
verify-identity(Alice Smith, 51909, ...)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663440"/>
            <a:ext cx="384048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4700016"/>
            <a:ext cx="376732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A3F45"/>
                </a:solidFill>
                <a:latin typeface="Aptos"/>
              </a:rPr>
              <a:t>BAD CASE TO INSTANTIATE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30368"/>
            <a:ext cx="978408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32440"/>
                </a:solidFill>
                <a:latin typeface="Aptos"/>
              </a:rPr>
              <a:t>Root cause: a trajectory example was stored as a procedure,
but the procedure did not expose variables, slots, or grounding rules.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BAD CASE 2 · ILLUSTRATIVE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Branch collapse: valid rules look contradictory when state is hidden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72768"/>
            <a:ext cx="16459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168B5"/>
                </a:solidFill>
                <a:latin typeface="Aptos"/>
              </a:rPr>
              <a:t>TRAJECTORY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185416"/>
            <a:ext cx="13533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account
identified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21992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90572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205740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2185416"/>
            <a:ext cx="12161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2 creds
available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41064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09644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057400"/>
            <a:ext cx="109728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185416"/>
            <a:ext cx="9875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verify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31536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00116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7296" y="2057400"/>
            <a:ext cx="118872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2185416"/>
            <a:ext cx="10789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16459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1">
                <a:solidFill>
                  <a:srgbClr val="DE772D"/>
                </a:solidFill>
                <a:latin typeface="Aptos"/>
              </a:rPr>
              <a:t>TRAJECTORY 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86200"/>
            <a:ext cx="146304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014215"/>
            <a:ext cx="13533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account
identified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21992" y="42519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90572" y="40965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87752" y="388620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42616" y="4014215"/>
            <a:ext cx="12161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1 cred
available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41064" y="42519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09644" y="40965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88620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4014215"/>
            <a:ext cx="11247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ask for
credential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68696" y="42519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37276" y="40965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34456" y="3886200"/>
            <a:ext cx="109728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4014215"/>
            <a:ext cx="9875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verify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828800"/>
            <a:ext cx="4069080" cy="288036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2103120"/>
            <a:ext cx="2103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A3F45"/>
                </a:solidFill>
                <a:latin typeface="Aptos"/>
              </a:rPr>
              <a:t>FLATTENED SKILL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578608"/>
            <a:ext cx="3383280" cy="731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132440"/>
                </a:solidFill>
                <a:latin typeface="Aptos"/>
              </a:rPr>
              <a:t>“Verify identity
with credentials.”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703320"/>
            <a:ext cx="3383280" cy="594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BA3F45"/>
                </a:solidFill>
                <a:latin typeface="Aptos"/>
              </a:rPr>
              <a:t>Which rule wins?
The missing object is the state condition.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0" y="5376672"/>
            <a:ext cx="384048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77056" y="5413248"/>
            <a:ext cx="376732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A3F45"/>
                </a:solidFill>
                <a:latin typeface="Aptos"/>
              </a:rPr>
              <a:t>BAD CASE TO INSTANTIATE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Reference should be an operational resource, not passive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600200"/>
            <a:ext cx="18288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BA3F45"/>
                </a:solidFill>
                <a:latin typeface="Aptos"/>
              </a:rPr>
              <a:t>Current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76856"/>
            <a:ext cx="15819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query by
keywords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33472" y="251460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02051" y="235915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14884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2276856"/>
            <a:ext cx="15819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paste
snippets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8304" y="251460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86884" y="235915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214884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2276856"/>
            <a:ext cx="15819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generate
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201168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8B82"/>
                </a:solidFill>
                <a:latin typeface="Aptos"/>
              </a:rPr>
              <a:t>Proposed 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4884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2276856"/>
            <a:ext cx="12161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estimate
state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71231" y="2514600"/>
            <a:ext cx="320041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39812" y="235915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6992" y="214884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2276856"/>
            <a:ext cx="12161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decide
retrieve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90303" y="2514600"/>
            <a:ext cx="320041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58884" y="235915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56063" y="214884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2276856"/>
            <a:ext cx="11247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query
need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917935" y="2514600"/>
            <a:ext cx="320041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986515" y="235915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83695" y="214884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38559" y="2276856"/>
            <a:ext cx="13075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ground +
verify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728447" y="2514600"/>
            <a:ext cx="320041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797028" y="235915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094207" y="2148840"/>
            <a:ext cx="91440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149072" y="2276856"/>
            <a:ext cx="8046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4160520"/>
            <a:ext cx="8503920" cy="1143000"/>
          </a:xfrm>
          <a:prstGeom prst="roundRect">
            <a:avLst>
              <a:gd name="adj" fmla="val 8000"/>
            </a:avLst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40" y="4425696"/>
            <a:ext cx="7863840" cy="5943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The skill must learn a reference-use policy:
when to retrieve · what to ask for · how to apply · when to verify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Skill = task policy + reference-use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91640"/>
            <a:ext cx="5074920" cy="361188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73152" cy="3611880"/>
          </a:xfrm>
          <a:prstGeom prst="roundRect">
            <a:avLst>
              <a:gd name="adj" fmla="val 8000"/>
            </a:avLst>
          </a:prstGeom>
          <a:solidFill>
            <a:srgbClr val="2168B5"/>
          </a:solidFill>
          <a:ln>
            <a:solidFill>
              <a:srgbClr val="21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32440"/>
                </a:solidFill>
                <a:latin typeface="Aptos"/>
              </a:rPr>
              <a:t>Task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58568"/>
            <a:ext cx="4663440" cy="28986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73242"/>
                </a:solidFill>
                <a:latin typeface="Aptos"/>
              </a:rPr>
              <a:t>State → business action
account_identified + enough credentials
→ verify-identity
identity_verified
→ send-link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074920" cy="361188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73152" cy="3611880"/>
          </a:xfrm>
          <a:prstGeom prst="roundRect">
            <a:avLst>
              <a:gd name="adj" fmla="val 8000"/>
            </a:avLst>
          </a:prstGeom>
          <a:solidFill>
            <a:srgbClr val="0F8B82"/>
          </a:solidFill>
          <a:ln>
            <a:solidFill>
              <a:srgbClr val="0F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32440"/>
                </a:solidFill>
                <a:latin typeface="Aptos"/>
              </a:rPr>
              <a:t>Reference-use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58568"/>
            <a:ext cx="4663440" cy="28986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73242"/>
                </a:solidFill>
                <a:latin typeface="Aptos"/>
              </a:rPr>
              <a:t>State + uncertainty → query → evidence use
Retrieve schema, branch, or boundary case.
Ground values in current dialogue.
Validate applicability before acting.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33272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32440"/>
                </a:solidFill>
                <a:latin typeface="Aptos"/>
              </a:rPr>
              <a:t>A reusable skill is not a longer prompt. It is a policy for acting and consulting evidence.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Learn to retrieve, ground, apply, and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05740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85416"/>
            <a:ext cx="12161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trajectory
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39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88819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057400"/>
            <a:ext cx="123444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0864" y="2185416"/>
            <a:ext cx="11247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retrieve
or 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47872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16451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20574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185416"/>
            <a:ext cx="12618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state-aware
query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12664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81244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8424" y="205740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3288" y="2185416"/>
            <a:ext cx="13075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reference
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23176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91756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205740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185416"/>
            <a:ext cx="13075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ground
current slots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33688" y="2423160"/>
            <a:ext cx="320040" cy="0"/>
          </a:xfrm>
          <a:prstGeom prst="line">
            <a:avLst/>
          </a:prstGeom>
          <a:ln w="25400">
            <a:solidFill>
              <a:srgbClr val="216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02268" y="226771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2057400"/>
            <a:ext cx="109728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2185416"/>
            <a:ext cx="9875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32440"/>
                </a:solidFill>
                <a:latin typeface="Aptos"/>
              </a:rPr>
              <a:t>execute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96512"/>
            <a:ext cx="178308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DE772D"/>
                </a:solidFill>
                <a:latin typeface="Aptos"/>
              </a:rPr>
              <a:t>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407408"/>
            <a:ext cx="182880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2440"/>
                </a:solidFill>
                <a:latin typeface="Aptos"/>
              </a:rPr>
              <a:t>Should I consult
reference first?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38862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4096512"/>
            <a:ext cx="178308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F8B82"/>
                </a:solidFill>
                <a:latin typeface="Aptos"/>
              </a:rPr>
              <a:t>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5928" y="4407408"/>
            <a:ext cx="182880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2440"/>
                </a:solidFill>
                <a:latin typeface="Aptos"/>
              </a:rPr>
              <a:t>What uncertainty
needs resolving?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388620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096512"/>
            <a:ext cx="178308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168B5"/>
                </a:solidFill>
                <a:latin typeface="Aptos"/>
              </a:rPr>
              <a:t>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4888" y="4407408"/>
            <a:ext cx="182880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2440"/>
                </a:solidFill>
                <a:latin typeface="Aptos"/>
              </a:rPr>
              <a:t>Which constraints
apply to this state?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388620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4096512"/>
            <a:ext cx="178308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BA3F45"/>
                </a:solidFill>
                <a:latin typeface="Aptos"/>
              </a:rPr>
              <a:t>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4407408"/>
            <a:ext cx="1828800" cy="4572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2440"/>
                </a:solidFill>
                <a:latin typeface="Aptos"/>
              </a:rPr>
              <a:t>Are action and slots
grounded now?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32440"/>
                </a:solidFill>
                <a:latin typeface="Aptos"/>
              </a:rPr>
              <a:t>Reference access becomes part of the induced procedure.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The training signal is a decision trace, not only an action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664208"/>
            <a:ext cx="10744200" cy="1078992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10241280" cy="384048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132440"/>
                </a:solidFill>
                <a:latin typeface="Aptos"/>
              </a:rPr>
              <a:t>state → query decision → retrieved evidence → selected rule → action →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200400"/>
            <a:ext cx="3246120" cy="169164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3200400"/>
            <a:ext cx="73152" cy="1691640"/>
          </a:xfrm>
          <a:prstGeom prst="roundRect">
            <a:avLst>
              <a:gd name="adj" fmla="val 8000"/>
            </a:avLst>
          </a:prstGeom>
          <a:solidFill>
            <a:srgbClr val="DE772D"/>
          </a:solidFill>
          <a:ln>
            <a:solidFill>
              <a:srgbClr val="DE7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6499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32440"/>
                </a:solidFill>
                <a:latin typeface="Aptos"/>
              </a:rPr>
              <a:t>Supervise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67328"/>
            <a:ext cx="2834639" cy="9784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73242"/>
                </a:solidFill>
                <a:latin typeface="Aptos"/>
              </a:rPr>
              <a:t>Retrieve vs. act
when uncertainty is 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3200400"/>
            <a:ext cx="3246120" cy="169164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2272" y="3200400"/>
            <a:ext cx="73152" cy="1691640"/>
          </a:xfrm>
          <a:prstGeom prst="roundRect">
            <a:avLst>
              <a:gd name="adj" fmla="val 8000"/>
            </a:avLst>
          </a:prstGeom>
          <a:solidFill>
            <a:srgbClr val="0F8B82"/>
          </a:solidFill>
          <a:ln>
            <a:solidFill>
              <a:srgbClr val="0F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36499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32440"/>
                </a:solidFill>
                <a:latin typeface="Aptos"/>
              </a:rPr>
              <a:t>Supervise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767328"/>
            <a:ext cx="2834639" cy="9784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73242"/>
                </a:solidFill>
                <a:latin typeface="Aptos"/>
              </a:rPr>
              <a:t>Schema vs. branch
vs. boundary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200400"/>
            <a:ext cx="3246120" cy="169164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11312" y="3200400"/>
            <a:ext cx="73152" cy="1691640"/>
          </a:xfrm>
          <a:prstGeom prst="roundRect">
            <a:avLst>
              <a:gd name="adj" fmla="val 8000"/>
            </a:avLst>
          </a:prstGeom>
          <a:solidFill>
            <a:srgbClr val="2168B5"/>
          </a:solidFill>
          <a:ln>
            <a:solidFill>
              <a:srgbClr val="21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336499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32440"/>
                </a:solidFill>
                <a:latin typeface="Aptos"/>
              </a:rPr>
              <a:t>Supervise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767328"/>
            <a:ext cx="2834639" cy="9784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73242"/>
                </a:solidFill>
                <a:latin typeface="Aptos"/>
              </a:rPr>
              <a:t>Evidence must change
(or validate) the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132440"/>
                </a:solidFill>
                <a:latin typeface="Aptos"/>
              </a:rPr>
              <a:t>Learning objective: improve decisions per retrieved token — not retrieve more text.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The paper needs three controlled bad-case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69164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DE772D"/>
                </a:solidFill>
                <a:latin typeface="Aptos"/>
              </a:rPr>
              <a:t>Macro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9164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901952"/>
            <a:ext cx="31546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2440"/>
                </a:solidFill>
                <a:latin typeface="Aptos"/>
              </a:rPr>
              <a:t>seen workflow / unseen 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91640"/>
            <a:ext cx="4800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3434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73242"/>
                </a:solidFill>
                <a:latin typeface="Aptos"/>
              </a:rPr>
              <a:t>parameterized generalization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07208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F8B82"/>
                </a:solidFill>
                <a:latin typeface="Aptos"/>
              </a:rPr>
              <a:t>Branch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807208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017520"/>
            <a:ext cx="31546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2440"/>
                </a:solidFill>
                <a:latin typeface="Aptos"/>
              </a:rPr>
              <a:t>same intent / different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807208"/>
            <a:ext cx="4800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017520"/>
            <a:ext cx="43434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73242"/>
                </a:solidFill>
                <a:latin typeface="Aptos"/>
              </a:rPr>
              <a:t>conditional action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22776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8"/>
            <a:ext cx="15544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168B5"/>
                </a:solidFill>
                <a:latin typeface="Aptos"/>
              </a:rPr>
              <a:t>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922776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4133088"/>
            <a:ext cx="31546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32440"/>
                </a:solidFill>
                <a:latin typeface="Aptos"/>
              </a:rPr>
              <a:t>retrieved example conflicts with dialogue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22776"/>
            <a:ext cx="4800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133088"/>
            <a:ext cx="43434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73242"/>
                </a:solidFill>
                <a:latin typeface="Aptos"/>
              </a:rPr>
              <a:t>grounding and misuse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285232"/>
            <a:ext cx="576072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5321808"/>
            <a:ext cx="568756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A3F45"/>
                </a:solidFill>
                <a:latin typeface="Aptos"/>
              </a:rPr>
              <a:t>MOCK / TO BE REPLACED BY ALIGNED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647385"/>
                </a:solidFill>
                <a:latin typeface="Aptos"/>
              </a:rPr>
              <a:t>A valid claim requires: original trace + generated skill + retrieval context + prediction + outcome.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168B5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69848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32440"/>
                </a:solidFill>
                <a:latin typeface="Aptos"/>
              </a:rPr>
              <a:t>The contribution is a skill that knows how to consult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47385"/>
                </a:solidFill>
                <a:latin typeface="Apto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645920"/>
            <a:ext cx="10744200" cy="1234440"/>
          </a:xfrm>
          <a:prstGeom prst="roundRect">
            <a:avLst>
              <a:gd name="adj" fmla="val 8000"/>
            </a:avLst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10195560" cy="6858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Existing methods learn what to do.
We learn when and how to consult evidence before doing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73242"/>
                </a:solidFill>
                <a:latin typeface="Aptos"/>
              </a:defRPr>
            </a:pPr>
            <a:r>
              <a:t>• Macro skill: parameterized, reusable procedures</a:t>
            </a:r>
          </a:p>
          <a:p>
            <a:pPr>
              <a:spcAft>
                <a:spcPts val="800"/>
              </a:spcAft>
              <a:defRPr sz="1900">
                <a:solidFill>
                  <a:srgbClr val="273242"/>
                </a:solidFill>
                <a:latin typeface="Aptos"/>
              </a:defRPr>
            </a:pPr>
            <a:r>
              <a:t>• Branch-aware skill: conditions separate valid rules</a:t>
            </a:r>
          </a:p>
          <a:p>
            <a:pPr>
              <a:spcAft>
                <a:spcPts val="800"/>
              </a:spcAft>
              <a:defRPr sz="1900">
                <a:solidFill>
                  <a:srgbClr val="273242"/>
                </a:solidFill>
                <a:latin typeface="Aptos"/>
              </a:defRPr>
            </a:pPr>
            <a:r>
              <a:t>• Reference-use policy: retrieve, ground, apply, verify</a:t>
            </a:r>
          </a:p>
          <a:p>
            <a:pPr>
              <a:spcAft>
                <a:spcPts val="800"/>
              </a:spcAft>
              <a:defRPr sz="1900">
                <a:solidFill>
                  <a:srgbClr val="273242"/>
                </a:solidFill>
                <a:latin typeface="Aptos"/>
              </a:defRPr>
            </a:pPr>
            <a:r>
              <a:t>• Evaluation: bad case → cause → insight → measurable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65760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3913632"/>
            <a:ext cx="1783080" cy="82296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0F8B82"/>
                </a:solidFill>
                <a:latin typeface="Aptos"/>
              </a:rPr>
              <a:t>Reusable
+
State-aware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5742432"/>
            <a:ext cx="21031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168B5"/>
                </a:solidFill>
                <a:latin typeface="Aptos"/>
              </a:rPr>
              <a:t>Thank you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74536"/>
            <a:ext cx="50292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47385"/>
                </a:solidFill>
                <a:latin typeface="Aptos"/>
              </a:rPr>
              <a:t>Learning to Use References for Skill Induction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473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